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6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59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SPY close</c:v>
                </c:pt>
              </c:strCache>
            </c:strRef>
          </c:tx>
          <c:spPr>
            <a:ln w="27940" cap="flat">
              <a:solidFill>
                <a:srgbClr val="214B6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4B67"/>
              </a:solidFill>
              <a:ln w="9525" cap="flat">
                <a:solidFill>
                  <a:srgbClr val="214B67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2018Q1</c:v>
                </c:pt>
                <c:pt idx="1">
                  <c:v>2018Q2</c:v>
                </c:pt>
                <c:pt idx="2">
                  <c:v>2018Q3</c:v>
                </c:pt>
                <c:pt idx="3">
                  <c:v>2018Q4</c:v>
                </c:pt>
                <c:pt idx="4">
                  <c:v>2019Q1</c:v>
                </c:pt>
                <c:pt idx="5">
                  <c:v>2019Q2</c:v>
                </c:pt>
                <c:pt idx="6">
                  <c:v>2019Q3</c:v>
                </c:pt>
                <c:pt idx="7">
                  <c:v>2019Q4</c:v>
                </c:pt>
                <c:pt idx="8">
                  <c:v>2020Q1</c:v>
                </c:pt>
                <c:pt idx="9">
                  <c:v>2020Q2</c:v>
                </c:pt>
                <c:pt idx="10">
                  <c:v>2020Q3</c:v>
                </c:pt>
                <c:pt idx="11">
                  <c:v>2020Q4</c:v>
                </c:pt>
                <c:pt idx="12">
                  <c:v>2021Q1</c:v>
                </c:pt>
                <c:pt idx="13">
                  <c:v>2021Q2</c:v>
                </c:pt>
                <c:pt idx="14">
                  <c:v>2021Q3</c:v>
                </c:pt>
                <c:pt idx="15">
                  <c:v>2021Q4</c:v>
                </c:pt>
                <c:pt idx="16">
                  <c:v>2022Q1</c:v>
                </c:pt>
                <c:pt idx="17">
                  <c:v>2022Q2</c:v>
                </c:pt>
                <c:pt idx="18">
                  <c:v>2022Q3</c:v>
                </c:pt>
                <c:pt idx="19">
                  <c:v>2022Q4</c:v>
                </c:pt>
                <c:pt idx="20">
                  <c:v>2023Q1</c:v>
                </c:pt>
                <c:pt idx="21">
                  <c:v>2023Q2</c:v>
                </c:pt>
                <c:pt idx="22">
                  <c:v>2023Q3</c:v>
                </c:pt>
                <c:pt idx="23">
                  <c:v>2023Q4</c:v>
                </c:pt>
                <c:pt idx="24">
                  <c:v>2024Q1</c:v>
                </c:pt>
                <c:pt idx="25">
                  <c:v>2024Q2</c:v>
                </c:pt>
                <c:pt idx="26">
                  <c:v>2024Q3</c:v>
                </c:pt>
                <c:pt idx="27">
                  <c:v>2024Q4</c:v>
                </c:pt>
                <c:pt idx="28">
                  <c:v>2025Q1</c:v>
                </c:pt>
                <c:pt idx="29">
                  <c:v>2025Q2</c:v>
                </c:pt>
                <c:pt idx="30">
                  <c:v>2025Q3</c:v>
                </c:pt>
                <c:pt idx="31">
                  <c:v>2025Q4</c:v>
                </c:pt>
                <c:pt idx="32">
                  <c:v>2026Q1</c:v>
                </c:pt>
                <c:pt idx="33">
                  <c:v>2026Q2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232.54</c:v>
                </c:pt>
                <c:pt idx="1">
                  <c:v>240.8</c:v>
                </c:pt>
                <c:pt idx="2">
                  <c:v>259.23</c:v>
                </c:pt>
                <c:pt idx="3">
                  <c:v>224.15</c:v>
                </c:pt>
                <c:pt idx="4">
                  <c:v>254.47</c:v>
                </c:pt>
                <c:pt idx="5">
                  <c:v>265.23</c:v>
                </c:pt>
                <c:pt idx="6">
                  <c:v>269.88</c:v>
                </c:pt>
                <c:pt idx="7">
                  <c:v>294.14</c:v>
                </c:pt>
                <c:pt idx="8">
                  <c:v>236.93</c:v>
                </c:pt>
                <c:pt idx="9">
                  <c:v>284.7</c:v>
                </c:pt>
                <c:pt idx="10">
                  <c:v>310.44</c:v>
                </c:pt>
                <c:pt idx="11">
                  <c:v>348.06</c:v>
                </c:pt>
                <c:pt idx="12">
                  <c:v>370.17</c:v>
                </c:pt>
                <c:pt idx="13">
                  <c:v>401.11</c:v>
                </c:pt>
                <c:pt idx="14">
                  <c:v>403.41</c:v>
                </c:pt>
                <c:pt idx="15">
                  <c:v>448.05</c:v>
                </c:pt>
                <c:pt idx="16">
                  <c:v>427.38</c:v>
                </c:pt>
                <c:pt idx="17">
                  <c:v>358.52</c:v>
                </c:pt>
                <c:pt idx="18">
                  <c:v>340.84</c:v>
                </c:pt>
                <c:pt idx="19">
                  <c:v>366.62</c:v>
                </c:pt>
                <c:pt idx="20">
                  <c:v>393.96</c:v>
                </c:pt>
                <c:pt idx="21">
                  <c:v>428.16</c:v>
                </c:pt>
                <c:pt idx="22">
                  <c:v>414.35</c:v>
                </c:pt>
                <c:pt idx="23">
                  <c:v>462.58</c:v>
                </c:pt>
                <c:pt idx="24">
                  <c:v>510.64</c:v>
                </c:pt>
                <c:pt idx="25">
                  <c:v>533</c:v>
                </c:pt>
                <c:pt idx="26">
                  <c:v>563.66</c:v>
                </c:pt>
                <c:pt idx="27">
                  <c:v>577.70000000000005</c:v>
                </c:pt>
                <c:pt idx="28">
                  <c:v>553.04999999999995</c:v>
                </c:pt>
                <c:pt idx="29">
                  <c:v>612.65</c:v>
                </c:pt>
                <c:pt idx="30">
                  <c:v>662.41</c:v>
                </c:pt>
                <c:pt idx="31">
                  <c:v>680.06</c:v>
                </c:pt>
                <c:pt idx="32">
                  <c:v>650.34</c:v>
                </c:pt>
                <c:pt idx="33">
                  <c:v>713.94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E6-4302-AEB6-022C9CFFBC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E8"/>
            </a:solidFill>
            <a:prstDash val="solid"/>
            <a:round/>
          </a:ln>
        </c:spPr>
        <c:txPr>
          <a:bodyPr rot="-2700000"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Quarter-end SPY close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E2E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set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68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76D-4C5A-BD88-81C032B08BE4}"/>
              </c:ext>
            </c:extLst>
          </c:dPt>
          <c:dPt>
            <c:idx val="1"/>
            <c:bubble3D val="0"/>
            <c:spPr>
              <a:solidFill>
                <a:srgbClr val="2C7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6D-4C5A-BD88-81C032B08BE4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76D-4C5A-BD88-81C032B08BE4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76D-4C5A-BD88-81C032B08BE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SPY not up tomorrow</c:v>
                </c:pt>
                <c:pt idx="1">
                  <c:v>SPY up tomorrow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175</c:v>
                </c:pt>
                <c:pt idx="1">
                  <c:v>233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6D-4C5A-BD88-81C032B08B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C8685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57.11</c:v>
                </c:pt>
                <c:pt idx="1">
                  <c:v>57.11</c:v>
                </c:pt>
                <c:pt idx="2">
                  <c:v>100</c:v>
                </c:pt>
                <c:pt idx="3">
                  <c:v>72.7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45-41DB-ADDE-4E6E053531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Linear Regression</c:v>
                </c:pt>
              </c:strCache>
            </c:strRef>
          </c:tx>
          <c:spPr>
            <a:solidFill>
              <a:srgbClr val="2C7A7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58.09</c:v>
                </c:pt>
                <c:pt idx="1">
                  <c:v>57.67</c:v>
                </c:pt>
                <c:pt idx="2">
                  <c:v>100</c:v>
                </c:pt>
                <c:pt idx="3">
                  <c:v>73.16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45-41DB-ADDE-4E6E053531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ExtraTrees</c:v>
                </c:pt>
              </c:strCache>
            </c:strRef>
          </c:tx>
          <c:spPr>
            <a:solidFill>
              <a:srgbClr val="5D8E6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57.84</c:v>
                </c:pt>
                <c:pt idx="1">
                  <c:v>57.64</c:v>
                </c:pt>
                <c:pt idx="2">
                  <c:v>98.71</c:v>
                </c:pt>
                <c:pt idx="3">
                  <c:v>72.78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245-41DB-ADDE-4E6E053531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Percent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214B67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breadth_down_pct_lag3</c:v>
                </c:pt>
                <c:pt idx="1">
                  <c:v>breadth_spread_lag3</c:v>
                </c:pt>
                <c:pt idx="2">
                  <c:v>breadth_up_pct_lag1</c:v>
                </c:pt>
                <c:pt idx="3">
                  <c:v>breadth_up_pct_lag3</c:v>
                </c:pt>
                <c:pt idx="4">
                  <c:v>breadth_momentum_3d</c:v>
                </c:pt>
                <c:pt idx="5">
                  <c:v>pct_above_5dma_lag2</c:v>
                </c:pt>
                <c:pt idx="6">
                  <c:v>breadth_down_pct_lag1</c:v>
                </c:pt>
                <c:pt idx="7">
                  <c:v>breadth_spread_lag1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20.41</c:v>
                </c:pt>
                <c:pt idx="1">
                  <c:v>20.11</c:v>
                </c:pt>
                <c:pt idx="2">
                  <c:v>19.649999999999999</c:v>
                </c:pt>
                <c:pt idx="3">
                  <c:v>19.43</c:v>
                </c:pt>
                <c:pt idx="4">
                  <c:v>19.32</c:v>
                </c:pt>
                <c:pt idx="5">
                  <c:v>19.32</c:v>
                </c:pt>
                <c:pt idx="6">
                  <c:v>19.28</c:v>
                </c:pt>
                <c:pt idx="7">
                  <c:v>18.91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21-4825-994F-4D5B5311F1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Relative importance x1000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70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1792" y="987552"/>
            <a:ext cx="10972800" cy="4956048"/>
          </a:xfrm>
          <a:prstGeom prst="roundRect">
            <a:avLst>
              <a:gd name="adj" fmla="val 147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89888"/>
            <a:ext cx="7040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Improving SPY Direction Prediction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Linear Regression and Tree Models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" y="267919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7A78"/>
                </a:solidFill>
              </a:rPr>
              <a:t>CSE 2600 project update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3044952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24A"/>
                </a:solidFill>
              </a:rPr>
              <a:t>Question: can daily S&amp;P 500 breadth signals help predict whether SPY closes higher on the next trading day?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37673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543800" y="1508760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08392" y="1655064"/>
            <a:ext cx="109728" cy="694944"/>
          </a:xfrm>
          <a:prstGeom prst="rect">
            <a:avLst/>
          </a:prstGeom>
          <a:solidFill>
            <a:srgbClr val="C86859"/>
          </a:solidFill>
          <a:ln w="12700">
            <a:solidFill>
              <a:srgbClr val="C868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27848" y="16367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Baseline 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27848" y="1892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57.11%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543800" y="2743200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08392" y="2889504"/>
            <a:ext cx="109728" cy="694944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27848" y="287121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Linear regression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927848" y="312724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58.09%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543800" y="3977640"/>
            <a:ext cx="31089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08392" y="4123944"/>
            <a:ext cx="109728" cy="694944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27848" y="410565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Best tree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27848" y="43616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57.84%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 and Setup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What came from Yahoo Finance and what was engineered in Python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85216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Downloaded adjusted close prices and trading volume for the S&amp;P 500 members plus SPY using Yahoo Finance.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Kept stocks with enough history to be useful and forward-filled later gaps.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Extended breadth-based predictors from the raw market data instead of modeling raw prices directly.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Built a binary target: 1 if SPY went up on the next trading day, 0 otherwise.</a:t>
            </a:r>
            <a:endParaRPr lang="en-US" sz="1630" dirty="0"/>
          </a:p>
        </p:txBody>
      </p:sp>
      <p:sp>
        <p:nvSpPr>
          <p:cNvPr id="7" name="Shape 5"/>
          <p:cNvSpPr/>
          <p:nvPr/>
        </p:nvSpPr>
        <p:spPr>
          <a:xfrm>
            <a:off x="704088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05472" y="1746504"/>
            <a:ext cx="109728" cy="66751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4928" y="172821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Raw tickers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24928" y="19842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504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23544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400032" y="1746504"/>
            <a:ext cx="109728" cy="66751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19488" y="172821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Trading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19488" y="19842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2089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2788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05472" y="2935224"/>
            <a:ext cx="109728" cy="66751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4928" y="2916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Kept stocks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24928" y="317296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485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35440" y="2788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00032" y="2935224"/>
            <a:ext cx="109728" cy="66751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19488" y="2916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Final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19488" y="317296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86600" y="41330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A"/>
                </a:solidFill>
              </a:rPr>
              <a:t>Important distinction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86600" y="444398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</a:rPr>
              <a:t>Yahoo Finance close-price and volume data. The predictors were created from that raw data using pandas.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Predictors Were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Breadth, trend, volatility, and lagged market signals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72768"/>
          <a:ext cx="10698480" cy="43891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Predictor family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breadth_up_pct / breadth_down_pct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Percent of S&amp;P 500 stocks that rose or fell that day.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avg_stock_return / median_stock_return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Cross-sectional summary of daily stock returns.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return_dispersion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How spread out stock returns were across the market.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avg_volume_change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Average daily change in trading volume.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pct_above_5dma / 20dma / 50dma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Percent of stocks trading above short, medium, and longer moving averages.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spy_return and spy_vol features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Recent SPY momentum and volatility signals.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breadth_spread / momentum features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Measures of overall market strength and recent change in breadth.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lagged features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1-day, 2-day, and 3-day lagged copies of important predictors.</a:t>
                      </a:r>
                      <a:endParaRPr lang="en-US" sz="1080" dirty="0"/>
                    </a:p>
                  </a:txBody>
                  <a:tcPr marL="45720" marR="45720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E7284"/>
                </a:solidFill>
              </a:rPr>
              <a:t>The improved experiment produced 69 total predictors after adding rolling summaries and lagged versions.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How the second experiment was made more careful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76072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Built an improved predictor set instead of using only a small first-pass feature table.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Split the data chronologically into train, validation, and test periods.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Used the validation period to choose thresholds and compare models before touching the final test set.</a:t>
            </a:r>
            <a:endParaRPr lang="en-US" sz="1630" dirty="0"/>
          </a:p>
          <a:p>
            <a:pPr marL="203200" indent="-203200">
              <a:buSzPct val="100000"/>
              <a:buChar char="•"/>
            </a:pPr>
            <a:r>
              <a:rPr lang="en-US" sz="1630" dirty="0">
                <a:solidFill>
                  <a:srgbClr val="17324A"/>
                </a:solidFill>
              </a:rPr>
              <a:t>Retrained the chosen models on train + validation before the final test evaluation.</a:t>
            </a:r>
            <a:endParaRPr lang="en-US" sz="1630" dirty="0"/>
          </a:p>
        </p:txBody>
      </p:sp>
      <p:sp>
        <p:nvSpPr>
          <p:cNvPr id="7" name="Shape 5"/>
          <p:cNvSpPr/>
          <p:nvPr/>
        </p:nvSpPr>
        <p:spPr>
          <a:xfrm>
            <a:off x="699516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59752" y="1746504"/>
            <a:ext cx="109728" cy="66751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79208" y="172821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Train rows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79208" y="19842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89720" y="16002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354312" y="1746504"/>
            <a:ext cx="109728" cy="667512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73768" y="172821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Validation rows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73768" y="198424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326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95160" y="2788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9752" y="2935224"/>
            <a:ext cx="109728" cy="667512"/>
          </a:xfrm>
          <a:prstGeom prst="rect">
            <a:avLst/>
          </a:prstGeom>
          <a:solidFill>
            <a:srgbClr val="C86859"/>
          </a:solidFill>
          <a:ln w="12700">
            <a:solidFill>
              <a:srgbClr val="C868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79208" y="2916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Test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79208" y="317296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408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89720" y="278892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54312" y="2935224"/>
            <a:ext cx="109728" cy="66751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73768" y="291693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7284"/>
                </a:solidFill>
              </a:rPr>
              <a:t>Feature count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73768" y="317296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4133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A"/>
                </a:solidFill>
              </a:rPr>
              <a:t>Why this matters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40880" y="444398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</a:rPr>
              <a:t>This keeps the final test period more honest because we are not tuning directly on it.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C86859"/>
          </a:solidFill>
          <a:ln w="12700">
            <a:solidFill>
              <a:srgbClr val="C868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C86859"/>
          </a:solidFill>
          <a:ln w="12700">
            <a:solidFill>
              <a:srgbClr val="C868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 Model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A simple linear probability 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Linear regression fits a straight-line relationship between the predictors and the target.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Because the target is 0 or 1, the model produces a continuous score rather than a clean class label.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I converted that score into a prediction using a validation-chosen threshold of 0.25.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This gives a simple baseline model that is easy to explain and compare against tree models.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903720" y="1627632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78040" y="1810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4B67"/>
                </a:solidFill>
              </a:rPr>
              <a:t>Prediction idea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40" y="2066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A"/>
                </a:solidFill>
              </a:rPr>
              <a:t>score = b0 + b1x1 + b2x2 + ...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86339"/>
              </p:ext>
            </p:extLst>
          </p:nvPr>
        </p:nvGraphicFramePr>
        <p:xfrm>
          <a:off x="6903720" y="2880360"/>
          <a:ext cx="3749040" cy="1399032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Threshold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0.25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58.09%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57.67%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100.00%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73.16%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949440" y="56692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A"/>
                </a:solidFill>
              </a:rPr>
              <a:t>Result: the linear regression model slightly beat the baseline on the final test period.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Tree-Based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Flexible models that can capture nonlinear patterns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Tree-based models split the data into rule-based branches instead of fitting one straight line.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Compared Random Forest, Extra Trees, and Gradient Boosting on the validation period.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The strongest tree-based model was ExtraTrees, using a threshold of 0.47.</a:t>
            </a:r>
            <a:endParaRPr lang="en-US" sz="16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114800" cy="9326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Tree model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Val Acc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ExtraTrees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58.28%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0.47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RandomForest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57.98%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0.45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GradientBoosting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57.98%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0.35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03720" y="4828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4B67"/>
                </a:solidFill>
              </a:rPr>
              <a:t>Best tree test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03720" y="5102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A"/>
                </a:solidFill>
              </a:rPr>
              <a:t>ExtraTrees: 57.84%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C7A78"/>
          </a:solidFill>
          <a:ln w="12700">
            <a:solidFill>
              <a:srgbClr val="2C7A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Context and Class Balance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Quarterly SPY trend and test-set class mix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58368" y="1371600"/>
          <a:ext cx="6629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7845552" y="1664208"/>
          <a:ext cx="33832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8065008" y="47731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</a:rPr>
              <a:t>Test set counts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</a:rPr>
              <a:t>Up tomorrow: 233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7324A"/>
                </a:solidFill>
              </a:rPr>
              <a:t>Not up tomorrow: 175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Baseline vs linear regression vs best tree model on the final test set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417320"/>
          <a:ext cx="67208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35240" y="1664208"/>
          <a:ext cx="3794760" cy="1092708"/>
        </p:xfrm>
        <a:graphic>
          <a:graphicData uri="http://schemas.openxmlformats.org/drawingml/2006/table">
            <a:tbl>
              <a:tblPr/>
              <a:tblGrid>
                <a:gridCol w="75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57.11%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57.11%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100.00%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72.70%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Linear Regression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58.09%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57.67%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100.00%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73.16%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ExtraTrees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57.84%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57.64%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98.71%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7324A"/>
                          </a:solidFill>
                        </a:rPr>
                        <a:t>72.78%</a:t>
                      </a:r>
                      <a:endParaRPr lang="en-US" sz="105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62672" y="4892040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17324A"/>
                </a:solidFill>
              </a:rPr>
              <a:t>Linear regression had the highest final test accuracy, while ExtraTrees was the strongest tree-based model.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D6A449"/>
          </a:solidFill>
          <a:ln w="12700">
            <a:solidFill>
              <a:srgbClr val="D6A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 Matrices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What each model got right and wrong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</a:rPr>
              <a:t>Baseline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283464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Actual / Pred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175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233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187952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</a:rPr>
              <a:t>Linear Regression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87952" y="1920240"/>
          <a:ext cx="283464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Actual / Pred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4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171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233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6"/>
          <p:cNvSpPr/>
          <p:nvPr/>
        </p:nvSpPr>
        <p:spPr>
          <a:xfrm>
            <a:off x="7872984" y="1664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A"/>
                </a:solidFill>
              </a:rPr>
              <a:t>ExtraTrees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72984" y="1920240"/>
          <a:ext cx="283464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Actual / Pred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B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6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169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17324A"/>
                          </a:solidFill>
                        </a:rPr>
                        <a:t>1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3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dirty="0">
                          <a:solidFill>
                            <a:srgbClr val="17324A"/>
                          </a:solidFill>
                        </a:rPr>
                        <a:t>230</a:t>
                      </a:r>
                      <a:endParaRPr lang="en-US" sz="1080" dirty="0"/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731520" y="4160520"/>
            <a:ext cx="106984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7324A"/>
                </a:solidFill>
              </a:rPr>
              <a:t>The baseline predicted the positive class every time, so it never identified non-up days.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7324A"/>
                </a:solidFill>
              </a:rPr>
              <a:t>Linear regression found a few non-up days while still keeping perfect recall on up days.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7324A"/>
                </a:solidFill>
              </a:rPr>
              <a:t>ExtraTrees found slightly more non-up days, but its recall was a little lower than linear regression.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5D8E67"/>
          </a:solidFill>
          <a:ln w="12700">
            <a:solidFill>
              <a:srgbClr val="5D8E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Important Tree Predictors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The best tree model relied heavily on lagged breadth information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536192"/>
          <a:ext cx="69037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955280" y="1783080"/>
            <a:ext cx="347472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460" dirty="0">
                <a:solidFill>
                  <a:srgbClr val="17324A"/>
                </a:solidFill>
              </a:rPr>
              <a:t>Several of the top tree predictors were lagged breadth variables.</a:t>
            </a:r>
            <a:endParaRPr lang="en-US" sz="1460" dirty="0"/>
          </a:p>
          <a:p>
            <a:pPr marL="203200" indent="-203200">
              <a:buSzPct val="100000"/>
              <a:buChar char="•"/>
            </a:pPr>
            <a:r>
              <a:rPr lang="en-US" sz="1460" dirty="0">
                <a:solidFill>
                  <a:srgbClr val="17324A"/>
                </a:solidFill>
              </a:rPr>
              <a:t>That suggests recent market internals carried more signal than same-day raw values alone.</a:t>
            </a:r>
            <a:endParaRPr lang="en-US" sz="1460" dirty="0"/>
          </a:p>
          <a:p>
            <a:pPr marL="203200" indent="-203200">
              <a:buSzPct val="100000"/>
              <a:buChar char="•"/>
            </a:pPr>
            <a:r>
              <a:rPr lang="en-US" sz="1460" dirty="0">
                <a:solidFill>
                  <a:srgbClr val="17324A"/>
                </a:solidFill>
              </a:rPr>
              <a:t>The tree model still only achieved a small edge, which is realistic for next-day market prediction.</a:t>
            </a:r>
            <a:endParaRPr lang="en-US" sz="1460" dirty="0"/>
          </a:p>
        </p:txBody>
      </p:sp>
      <p:sp>
        <p:nvSpPr>
          <p:cNvPr id="8" name="Text 5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CSE 2600 stock project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214B67"/>
          </a:solidFill>
          <a:ln w="12700">
            <a:solidFill>
              <a:srgbClr val="214B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284"/>
                </a:solidFill>
              </a:rPr>
              <a:t>What I can honestly say about the final result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640080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The original first-pass models did not beat the majority-class baseline.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The improved experiment used richer predictors and a validation step before the final test.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Both the linear regression model and the best tree-based model slightly beat the baseline.</a:t>
            </a:r>
            <a:endParaRPr lang="en-US" sz="1620" dirty="0"/>
          </a:p>
          <a:p>
            <a:pPr marL="203200" indent="-203200">
              <a:buSzPct val="100000"/>
              <a:buChar char="•"/>
            </a:pPr>
            <a:r>
              <a:rPr lang="en-US" sz="1620" dirty="0">
                <a:solidFill>
                  <a:srgbClr val="17324A"/>
                </a:solidFill>
              </a:rPr>
              <a:t>Linear regression had the strongest final test accuracy, while ExtraTrees was the best tree model.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7680960" y="1664208"/>
            <a:ext cx="3749040" cy="406908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8432" y="1938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4B67"/>
                </a:solidFill>
              </a:rPr>
              <a:t>Final numbers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28432" y="230428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A"/>
                </a:solidFill>
              </a:rPr>
              <a:t>Baseline: 57.11%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24A"/>
                </a:solidFill>
              </a:rPr>
              <a:t>Linear regression: 58.09%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324A"/>
                </a:solidFill>
              </a:rPr>
              <a:t>ExtraTrees: 57.84%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28432" y="38221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28432" y="41148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8595360" y="6601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FFFFFF"/>
                </a:solidFill>
              </a:rPr>
              <a:t>Improved presentation generated from saved experiment results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1026</Words>
  <Application>Microsoft Office PowerPoint</Application>
  <PresentationFormat>Widescreen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Improved SPY Direction Prediction from S&amp;P 500 Breadth</dc:title>
  <dc:subject>Improved SPY Direction Prediction</dc:subject>
  <dc:creator>OpenAI</dc:creator>
  <cp:lastModifiedBy>Nusom, Jack</cp:lastModifiedBy>
  <cp:revision>2</cp:revision>
  <dcterms:created xsi:type="dcterms:W3CDTF">2026-04-27T03:05:33Z</dcterms:created>
  <dcterms:modified xsi:type="dcterms:W3CDTF">2026-04-27T20:54:57Z</dcterms:modified>
</cp:coreProperties>
</file>